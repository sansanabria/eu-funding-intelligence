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23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91695" cy="36576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EU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CC38C"/>
                </a:solidFill>
              </a:defRPr>
            </a:pPr>
            <a: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517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FC8"/>
                </a:solidFill>
              </a:defRPr>
            </a:pPr>
            <a:r>
              <a:t>EIF Financial Intermediaries Research &amp;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6478"/>
                </a:solidFill>
              </a:defRPr>
            </a:pPr>
            <a:r>
              <a:t>Prepared for CEO, COO &amp; Management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6AA"/>
                </a:solidFill>
              </a:defRPr>
            </a:pPr>
            <a:r>
              <a:t>European Commission  //  Your Europe Portal  //  Q1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3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FC8"/>
                </a:solidFill>
              </a:defRPr>
            </a:pPr>
            <a:r>
              <a:t>Portfolio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737360" cy="12801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2800" b="1">
                <a:solidFill>
                  <a:srgbClr val="233C64"/>
                </a:solidFill>
              </a:defRPr>
            </a:pPr>
            <a:r>
              <a:t>12</a:t>
            </a:r>
          </a:p>
          <a:p>
            <a:pPr algn="ctr">
              <a:defRPr sz="1000">
                <a:solidFill>
                  <a:srgbClr val="8C96AA"/>
                </a:solidFill>
              </a:defRPr>
            </a:pPr>
            <a:r>
              <a:t>Fund Managers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737360" cy="32004"/>
          </a:xfrm>
          <a:prstGeom prst="rect">
            <a:avLst/>
          </a:prstGeom>
          <a:solidFill>
            <a:srgbClr val="23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1463040"/>
            <a:ext cx="1737360" cy="12801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2800" b="1">
                <a:solidFill>
                  <a:srgbClr val="4B648C"/>
                </a:solidFill>
              </a:defRPr>
            </a:pPr>
            <a:r>
              <a:t>5</a:t>
            </a:r>
          </a:p>
          <a:p>
            <a:pPr algn="ctr">
              <a:defRPr sz="1000">
                <a:solidFill>
                  <a:srgbClr val="8C96AA"/>
                </a:solidFill>
              </a:defRPr>
            </a:pPr>
            <a:r>
              <a:t>Countries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463040"/>
            <a:ext cx="1737360" cy="32004"/>
          </a:xfrm>
          <a:prstGeom prst="rect">
            <a:avLst/>
          </a:prstGeom>
          <a:solidFill>
            <a:srgbClr val="4B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1737360" cy="12801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2800" b="1">
                <a:solidFill>
                  <a:srgbClr val="AA7D3C"/>
                </a:solidFill>
              </a:defRPr>
            </a:pPr>
            <a:r>
              <a:t>EUR 119M</a:t>
            </a:r>
          </a:p>
          <a:p>
            <a:pPr algn="ctr">
              <a:defRPr sz="1000">
                <a:solidFill>
                  <a:srgbClr val="8C96AA"/>
                </a:solidFill>
              </a:defRPr>
            </a:pPr>
            <a:r>
              <a:t>Total EIF Capital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1737360" cy="32004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1737360" cy="12801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2800" b="1">
                <a:solidFill>
                  <a:srgbClr val="AA7D3C"/>
                </a:solidFill>
              </a:defRPr>
            </a:pPr>
            <a:r>
              <a:t>9</a:t>
            </a:r>
          </a:p>
          <a:p>
            <a:pPr algn="ctr">
              <a:defRPr sz="1000">
                <a:solidFill>
                  <a:srgbClr val="8C96AA"/>
                </a:solidFill>
              </a:defRPr>
            </a:pPr>
            <a:r>
              <a:t>Solar 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1737360" cy="32004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1737360" cy="12801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2800" b="1">
                <a:solidFill>
                  <a:srgbClr val="377882"/>
                </a:solidFill>
              </a:defRPr>
            </a:pPr>
            <a:r>
              <a:t>4</a:t>
            </a:r>
          </a:p>
          <a:p>
            <a:pPr algn="ctr">
              <a:defRPr sz="1000">
                <a:solidFill>
                  <a:srgbClr val="8C96AA"/>
                </a:solidFill>
              </a:defRPr>
            </a:pPr>
            <a:r>
              <a:t>Hydrogen 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1737360" cy="32004"/>
          </a:xfrm>
          <a:prstGeom prst="rect">
            <a:avLst/>
          </a:prstGeom>
          <a:solidFill>
            <a:srgbClr val="37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49840" y="1463040"/>
            <a:ext cx="1737360" cy="12801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2800" b="1">
                <a:solidFill>
                  <a:srgbClr val="377D55"/>
                </a:solidFill>
              </a:defRPr>
            </a:pPr>
            <a:r>
              <a:t>6</a:t>
            </a:r>
          </a:p>
          <a:p>
            <a:pPr algn="ctr">
              <a:defRPr sz="1000">
                <a:solidFill>
                  <a:srgbClr val="8C96AA"/>
                </a:solidFill>
              </a:defRPr>
            </a:pPr>
            <a:r>
              <a:t>Desalination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40" y="1463040"/>
            <a:ext cx="1737360" cy="32004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11430000" cy="35661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roject_fit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154680"/>
            <a:ext cx="91440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3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Fund Manager Rankings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FC8"/>
                </a:solidFill>
              </a:defRPr>
            </a:pPr>
            <a:r>
              <a:t>Sorted by strategic fit score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  <a:gridCol w="1371600"/>
                <a:gridCol w="1828800"/>
                <a:gridCol w="91440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FUND MANAGER</a:t>
                      </a:r>
                    </a:p>
                  </a:txBody>
                  <a:tcPr>
                    <a:solidFill>
                      <a:srgbClr val="23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23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3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EIF COMMITMENT</a:t>
                      </a:r>
                    </a:p>
                  </a:txBody>
                  <a:tcPr>
                    <a:solidFill>
                      <a:srgbClr val="23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3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233C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Suma Capital SGEIC SA leading manager in</a:t>
                      </a:r>
                    </a:p>
                  </a:txBody>
                  <a:tcPr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Spain</a:t>
                      </a:r>
                    </a:p>
                  </a:txBody>
                  <a:tcPr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7D3C"/>
                          </a:solidFill>
                        </a:defRPr>
                      </a:pPr>
                      <a:r>
                        <a:t>41.2M</a:t>
                      </a:r>
                    </a:p>
                  </a:txBody>
                  <a:tcPr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3C64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77D55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EDF5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Impact Bridge is a Spanish asset managem</a:t>
                      </a:r>
                    </a:p>
                  </a:txBody>
                  <a:tcPr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Debt</a:t>
                      </a:r>
                    </a:p>
                  </a:txBody>
                  <a:tcPr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7D3C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3C64"/>
                          </a:solidFill>
                        </a:defRPr>
                      </a:pPr>
                      <a:r>
                        <a:t>7.0</a:t>
                      </a:r>
                    </a:p>
                  </a:txBody>
                  <a:tcPr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77D55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EDF5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Impact Bridge Carlos de Abajo Co-Head Ag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Spain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VC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7D3C"/>
                          </a:solidFill>
                        </a:defRPr>
                      </a:pPr>
                      <a:r>
                        <a:t>0.0M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3C64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A7D3C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Axon Partners Group Investment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Spain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PE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7D3C"/>
                          </a:solidFill>
                        </a:defRPr>
                      </a:pPr>
                      <a:r>
                        <a:t>21.0M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3C64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A7D3C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OXY Capital Empowering small and midsize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Portugal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Debt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7D3C"/>
                          </a:solidFill>
                        </a:defRPr>
                      </a:pPr>
                      <a:r>
                        <a:t>10.5M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3C64"/>
                          </a:solidFill>
                        </a:defRPr>
                      </a:pPr>
                      <a:r>
                        <a:t>5.5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A7D3C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Alantra Multi Asset SGIIC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Spain &amp; Portugal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VC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7D3C"/>
                          </a:solidFill>
                        </a:defRPr>
                      </a:pPr>
                      <a:r>
                        <a:t>20.3M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3C64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A7D3C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Impact Bridge Rebecca Eastmond Co-Founde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Debt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7D3C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3C64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A7D3C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NIAM Infrastructure invests in Nordic in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Sweden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7D3C"/>
                          </a:solidFill>
                        </a:defRPr>
                      </a:pPr>
                      <a:r>
                        <a:t>5.2M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3C64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A7D3C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Impact Bridge Cristina González Viu Gene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Spain &amp; Portugal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Debt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7D3C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3C64"/>
                          </a:solidFill>
                        </a:defRPr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9B5050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Impact Bridge Louisa Brassey Chair of th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Debt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7D3C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3C64"/>
                          </a:solidFill>
                        </a:defRPr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9B5050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Arta Capital Fund III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Spain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PE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7D3C"/>
                          </a:solidFill>
                        </a:defRPr>
                      </a:pPr>
                      <a:r>
                        <a:t>2.8M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3C64"/>
                          </a:solidFill>
                        </a:defRPr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9B5050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Norrsken Impact Accelerator welcomes the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Sweden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32"/>
                          </a:solidFill>
                        </a:defRPr>
                      </a:pPr>
                      <a:r>
                        <a:t>VC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AA7D3C"/>
                          </a:solidFill>
                        </a:defRPr>
                      </a:pPr>
                      <a:r>
                        <a:t>17.5M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3C64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9B5050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>
                    <a:solidFill>
                      <a:srgbClr val="F5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3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EIF Commitment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FC8"/>
                </a:solidFill>
              </a:defRPr>
            </a:pPr>
            <a:r>
              <a:t>Capital allocated per intermediary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534924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if_commi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3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Strategic Fit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FC8"/>
                </a:solidFill>
              </a:defRPr>
            </a:pPr>
            <a:r>
              <a:t>Project Fit // EIF Commitment // SDG // Contact // Geography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534924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rategic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3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71323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6576" cy="713232"/>
          </a:xfrm>
          <a:prstGeom prst="rect">
            <a:avLst/>
          </a:prstGeom>
          <a:solidFill>
            <a:srgbClr val="23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81328"/>
            <a:ext cx="411480" cy="411480"/>
          </a:xfrm>
          <a:prstGeom prst="rect">
            <a:avLst/>
          </a:prstGeom>
          <a:solidFill>
            <a:srgbClr val="ED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300" b="1">
                <a:solidFill>
                  <a:srgbClr val="233C64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89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33C64"/>
                </a:solidFill>
              </a:defRPr>
            </a:pPr>
            <a:r>
              <a:t>SPAIN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190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478"/>
                </a:solidFill>
              </a:defRPr>
            </a:pPr>
            <a:r>
              <a:t>Spain dominates with 7 of 12 fund managers - strongest entry 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21992"/>
            <a:ext cx="11064240" cy="71323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21992"/>
            <a:ext cx="36576" cy="713232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31720"/>
            <a:ext cx="411480" cy="411480"/>
          </a:xfrm>
          <a:prstGeom prst="rect">
            <a:avLst/>
          </a:prstGeom>
          <a:solidFill>
            <a:srgbClr val="ED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300" b="1">
                <a:solidFill>
                  <a:srgbClr val="AA7D3C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7D3C"/>
                </a:solidFill>
              </a:defRPr>
            </a:pPr>
            <a:r>
              <a:t>SOLAR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6946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478"/>
                </a:solidFill>
              </a:defRPr>
            </a:pPr>
            <a:r>
              <a:t>Broadest coverage of any project type, multiple funding options.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72384"/>
            <a:ext cx="11064240" cy="71323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72384"/>
            <a:ext cx="36576" cy="713232"/>
          </a:xfrm>
          <a:prstGeom prst="rect">
            <a:avLst/>
          </a:prstGeom>
          <a:solidFill>
            <a:srgbClr val="9B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182112"/>
            <a:ext cx="411480" cy="411480"/>
          </a:xfrm>
          <a:prstGeom prst="rect">
            <a:avLst/>
          </a:prstGeom>
          <a:solidFill>
            <a:srgbClr val="ED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300" b="1">
                <a:solidFill>
                  <a:srgbClr val="9B5050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90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050"/>
                </a:solidFill>
              </a:defRPr>
            </a:pPr>
            <a:r>
              <a:t>DESALINATION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419856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478"/>
                </a:solidFill>
              </a:defRPr>
            </a:pPr>
            <a:r>
              <a:t>No fund targets it directly. Best route: SDG 6/14 via Impact Bridge.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22776"/>
            <a:ext cx="11064240" cy="71323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22776"/>
            <a:ext cx="36576" cy="713232"/>
          </a:xfrm>
          <a:prstGeom prst="rect">
            <a:avLst/>
          </a:prstGeom>
          <a:solidFill>
            <a:srgbClr val="37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032504"/>
            <a:ext cx="411480" cy="411480"/>
          </a:xfrm>
          <a:prstGeom prst="rect">
            <a:avLst/>
          </a:prstGeom>
          <a:solidFill>
            <a:srgbClr val="ED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300" b="1">
                <a:solidFill>
                  <a:srgbClr val="377882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94106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7882"/>
                </a:solidFill>
              </a:defRPr>
            </a:pPr>
            <a:r>
              <a:t>HYDROGEN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270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478"/>
                </a:solidFill>
              </a:defRPr>
            </a:pPr>
            <a:r>
              <a:t>Multi-fund: Suma Capital + Impact Bridge + Axon Partners.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73168"/>
            <a:ext cx="11064240" cy="71323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773168"/>
            <a:ext cx="36576" cy="713232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882896"/>
            <a:ext cx="411480" cy="411480"/>
          </a:xfrm>
          <a:prstGeom prst="rect">
            <a:avLst/>
          </a:prstGeom>
          <a:solidFill>
            <a:srgbClr val="ED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300" b="1">
                <a:solidFill>
                  <a:srgbClr val="377D55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7914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7D55"/>
                </a:solidFill>
              </a:defRPr>
            </a:pPr>
            <a:r>
              <a:t>NORDIC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1206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478"/>
                </a:solidFill>
              </a:defRPr>
            </a:pPr>
            <a:r>
              <a:t>NIAM at EUR 51.7M - largest commitment, infrastructure scale.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623560"/>
            <a:ext cx="11064240" cy="71323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623560"/>
            <a:ext cx="36576" cy="713232"/>
          </a:xfrm>
          <a:prstGeom prst="rect">
            <a:avLst/>
          </a:prstGeom>
          <a:solidFill>
            <a:srgbClr val="4B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733288"/>
            <a:ext cx="411480" cy="411480"/>
          </a:xfrm>
          <a:prstGeom prst="rect">
            <a:avLst/>
          </a:prstGeom>
          <a:solidFill>
            <a:srgbClr val="ED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300" b="1">
                <a:solidFill>
                  <a:srgbClr val="4B648C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41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648C"/>
                </a:solidFill>
              </a:defRPr>
            </a:pPr>
            <a:r>
              <a:t>SDG READINESS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9710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478"/>
                </a:solidFill>
              </a:defRPr>
            </a:pPr>
            <a:r>
              <a:t>Impact funds require measurable metrics. Prepare data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3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FC8"/>
                </a:solidFill>
              </a:defRPr>
            </a:pPr>
            <a:r>
              <a:t>Does EU funding apply to your company?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solidFill>
            <a:srgbClr val="23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325880"/>
            <a:ext cx="2011680" cy="502920"/>
          </a:xfrm>
          <a:prstGeom prst="rect">
            <a:avLst/>
          </a:prstGeom>
          <a:solidFill>
            <a:srgbClr val="ED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100" b="1">
                <a:solidFill>
                  <a:srgbClr val="233C64"/>
                </a:solidFill>
              </a:defRPr>
            </a:pPr>
            <a:r>
              <a:t>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C96AA"/>
                </a:solidFill>
              </a:defRPr>
            </a:pPr>
            <a:r>
              <a:t>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325880"/>
            <a:ext cx="7863840" cy="5029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500"/>
              </a:spcBef>
              <a:defRPr sz="1200">
                <a:solidFill>
                  <a:srgbClr val="1E2332"/>
                </a:solidFill>
              </a:defRPr>
            </a:pPr>
            <a:r>
              <a:t>EU27, EEA, outermost regions, associated countries?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75688"/>
            <a:ext cx="502920" cy="502920"/>
          </a:xfrm>
          <a:prstGeom prst="rect">
            <a:avLst/>
          </a:prstGeom>
          <a:solidFill>
            <a:srgbClr val="23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075688"/>
            <a:ext cx="2011680" cy="502920"/>
          </a:xfrm>
          <a:prstGeom prst="rect">
            <a:avLst/>
          </a:prstGeom>
          <a:solidFill>
            <a:srgbClr val="ED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100" b="1">
                <a:solidFill>
                  <a:srgbClr val="233C64"/>
                </a:solidFill>
              </a:defRPr>
            </a:pPr>
            <a:r>
              <a:t>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214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C96AA"/>
                </a:solidFill>
              </a:defRPr>
            </a:pPr>
            <a:r>
              <a:t>&gt;&gt;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2075688"/>
            <a:ext cx="7863840" cy="5029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500"/>
              </a:spcBef>
              <a:defRPr sz="1200">
                <a:solidFill>
                  <a:srgbClr val="1E2332"/>
                </a:solidFill>
              </a:defRPr>
            </a:pPr>
            <a:r>
              <a:t>Startup, SME, mid-cap, or infrastructure project?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25496"/>
            <a:ext cx="502920" cy="502920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825496"/>
            <a:ext cx="2011680" cy="502920"/>
          </a:xfrm>
          <a:prstGeom prst="rect">
            <a:avLst/>
          </a:prstGeom>
          <a:solidFill>
            <a:srgbClr val="ED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100" b="1">
                <a:solidFill>
                  <a:srgbClr val="AA7D3C"/>
                </a:solidFill>
              </a:defRPr>
            </a:pPr>
            <a:r>
              <a:t>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71215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C96AA"/>
                </a:solidFill>
              </a:defRPr>
            </a:pPr>
            <a:r>
              <a:t>&gt;&gt;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825496"/>
            <a:ext cx="7863840" cy="5029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500"/>
              </a:spcBef>
              <a:defRPr sz="1200">
                <a:solidFill>
                  <a:srgbClr val="1E2332"/>
                </a:solidFill>
              </a:defRPr>
            </a:pPr>
            <a:r>
              <a:t>Loans, venture capital, microfinance, or grants?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75304"/>
            <a:ext cx="502920" cy="502920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3575304"/>
            <a:ext cx="2011680" cy="502920"/>
          </a:xfrm>
          <a:prstGeom prst="rect">
            <a:avLst/>
          </a:prstGeom>
          <a:solidFill>
            <a:srgbClr val="ED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100" b="1">
                <a:solidFill>
                  <a:srgbClr val="AA7D3C"/>
                </a:solidFill>
              </a:defRPr>
            </a:pPr>
            <a:r>
              <a:t>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62102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C96AA"/>
                </a:solidFill>
              </a:defRPr>
            </a:pPr>
            <a:r>
              <a:t>&gt;&gt;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3575304"/>
            <a:ext cx="7863840" cy="5029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500"/>
              </a:spcBef>
              <a:defRPr sz="1200">
                <a:solidFill>
                  <a:srgbClr val="1E2332"/>
                </a:solidFill>
              </a:defRPr>
            </a:pPr>
            <a:r>
              <a:t>EIF, EIB, InvestEU, or national promotional banks?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25112"/>
            <a:ext cx="502920" cy="502920"/>
          </a:xfrm>
          <a:prstGeom prst="rect">
            <a:avLst/>
          </a:prstGeom>
          <a:solidFill>
            <a:srgbClr val="37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4325112"/>
            <a:ext cx="2011680" cy="502920"/>
          </a:xfrm>
          <a:prstGeom prst="rect">
            <a:avLst/>
          </a:prstGeom>
          <a:solidFill>
            <a:srgbClr val="ED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100" b="1">
                <a:solidFill>
                  <a:srgbClr val="377882"/>
                </a:solidFill>
              </a:defRPr>
            </a:pPr>
            <a:r>
              <a:t>AMOUNT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3708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C96AA"/>
                </a:solidFill>
              </a:defRPr>
            </a:pPr>
            <a:r>
              <a:t>&gt;&gt;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4325112"/>
            <a:ext cx="7863840" cy="5029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500"/>
              </a:spcBef>
              <a:defRPr sz="1200">
                <a:solidFill>
                  <a:srgbClr val="1E2332"/>
                </a:solidFill>
              </a:defRPr>
            </a:pPr>
            <a:r>
              <a:t>From under EUR 500K to EUR 50M+?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solidFill>
            <a:srgbClr val="37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5074920"/>
            <a:ext cx="2011680" cy="502920"/>
          </a:xfrm>
          <a:prstGeom prst="rect">
            <a:avLst/>
          </a:prstGeom>
          <a:solidFill>
            <a:srgbClr val="ED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100" b="1">
                <a:solidFill>
                  <a:srgbClr val="377882"/>
                </a:solidFill>
              </a:defRPr>
            </a:pPr>
            <a:r>
              <a:t>SDG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120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C96AA"/>
                </a:solidFill>
              </a:defRPr>
            </a:pPr>
            <a:r>
              <a:t>&gt;&gt;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5074920"/>
            <a:ext cx="7863840" cy="5029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500"/>
              </a:spcBef>
              <a:defRPr sz="1200">
                <a:solidFill>
                  <a:srgbClr val="1E2332"/>
                </a:solidFill>
              </a:defRPr>
            </a:pPr>
            <a:r>
              <a:t>Which sustainable development goals apply?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24728"/>
            <a:ext cx="502920" cy="50292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5824728"/>
            <a:ext cx="2011680" cy="502920"/>
          </a:xfrm>
          <a:prstGeom prst="rect">
            <a:avLst/>
          </a:prstGeom>
          <a:solidFill>
            <a:srgbClr val="ED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100" b="1">
                <a:solidFill>
                  <a:srgbClr val="377D55"/>
                </a:solidFill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8704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C96AA"/>
                </a:solidFill>
              </a:defRPr>
            </a:pPr>
            <a:r>
              <a:t>&gt;&gt;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5824728"/>
            <a:ext cx="7863840" cy="5029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500"/>
              </a:spcBef>
              <a:defRPr sz="1200">
                <a:solidFill>
                  <a:srgbClr val="1E2332"/>
                </a:solidFill>
              </a:defRPr>
            </a:pPr>
            <a:r>
              <a:t>Your filtered shortlist with direct portal link.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3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Recommended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FC8"/>
                </a:solidFill>
              </a:defRPr>
            </a:pPr>
            <a:r>
              <a:t>Prioritized by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463040" cy="502920"/>
          </a:xfrm>
          <a:prstGeom prst="rect">
            <a:avLst/>
          </a:prstGeom>
          <a:solidFill>
            <a:srgbClr val="9B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100" b="1">
                <a:solidFill>
                  <a:srgbClr val="FFFFFF"/>
                </a:solidFill>
              </a:defRPr>
            </a:pPr>
            <a:r>
              <a:t>IMMEDIATE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371600"/>
            <a:ext cx="9418320" cy="6858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Bef>
                <a:spcPts val="800"/>
              </a:spcBef>
              <a:defRPr sz="1300">
                <a:solidFill>
                  <a:srgbClr val="1E2332"/>
                </a:solidFill>
              </a:defRPr>
            </a:pPr>
            <a:r>
              <a:t>Outreach to Tier 1: Suma Capital (8/10) and Impact Bridge Global (7/10).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371600"/>
            <a:ext cx="36576" cy="685800"/>
          </a:xfrm>
          <a:prstGeom prst="rect">
            <a:avLst/>
          </a:prstGeom>
          <a:solidFill>
            <a:srgbClr val="9B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1463040" cy="502920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100" b="1">
                <a:solidFill>
                  <a:srgbClr val="FFFFFF"/>
                </a:solidFill>
              </a:defRPr>
            </a:pPr>
            <a:r>
              <a:t>Q2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2377440"/>
            <a:ext cx="9418320" cy="6858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Bef>
                <a:spcPts val="800"/>
              </a:spcBef>
              <a:defRPr sz="1300">
                <a:solidFill>
                  <a:srgbClr val="1E2332"/>
                </a:solidFill>
              </a:defRPr>
            </a:pPr>
            <a:r>
              <a:t>Prepare SDG-aligned pitch deck with measurable impact metrics.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377440"/>
            <a:ext cx="36576" cy="685800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1463040" cy="502920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100" b="1">
                <a:solidFill>
                  <a:srgbClr val="FFFFFF"/>
                </a:solidFill>
              </a:defRPr>
            </a:pPr>
            <a:r>
              <a:t>Q2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3383280"/>
            <a:ext cx="9418320" cy="6858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Bef>
                <a:spcPts val="800"/>
              </a:spcBef>
              <a:defRPr sz="1300">
                <a:solidFill>
                  <a:srgbClr val="1E2332"/>
                </a:solidFill>
              </a:defRPr>
            </a:pPr>
            <a:r>
              <a:t>Develop Portugal strategy for OXY Capital: solar + green hydrogen.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3383280"/>
            <a:ext cx="36576" cy="685800"/>
          </a:xfrm>
          <a:prstGeom prst="rect">
            <a:avLst/>
          </a:prstGeom>
          <a:solidFill>
            <a:srgbClr val="AA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1463040" cy="502920"/>
          </a:xfrm>
          <a:prstGeom prst="rect">
            <a:avLst/>
          </a:prstGeom>
          <a:solidFill>
            <a:srgbClr val="23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100" b="1">
                <a:solidFill>
                  <a:srgbClr val="FFFFFF"/>
                </a:solidFill>
              </a:defRPr>
            </a:pPr>
            <a:r>
              <a:t>Q3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4389120"/>
            <a:ext cx="9418320" cy="6858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Bef>
                <a:spcPts val="800"/>
              </a:spcBef>
              <a:defRPr sz="1300">
                <a:solidFill>
                  <a:srgbClr val="1E2332"/>
                </a:solidFill>
              </a:defRPr>
            </a:pPr>
            <a:r>
              <a:t>Apply to Norrsken Impact Accelerator 2026 cohort.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4389120"/>
            <a:ext cx="36576" cy="685800"/>
          </a:xfrm>
          <a:prstGeom prst="rect">
            <a:avLst/>
          </a:prstGeom>
          <a:solidFill>
            <a:srgbClr val="23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94960"/>
            <a:ext cx="1463040" cy="50292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100" b="1">
                <a:solidFill>
                  <a:srgbClr val="FFFFFF"/>
                </a:solidFill>
              </a:defRPr>
            </a:pPr>
            <a:r>
              <a:t>ONGOING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5394960"/>
            <a:ext cx="9418320" cy="6858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Bef>
                <a:spcPts val="800"/>
              </a:spcBef>
              <a:defRPr sz="1300">
                <a:solidFill>
                  <a:srgbClr val="1E2332"/>
                </a:solidFill>
              </a:defRPr>
            </a:pPr>
            <a:r>
              <a:t>Expand intermediary research across all 27 EU member states.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5394960"/>
            <a:ext cx="36576" cy="68580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C96AA"/>
                </a:solidFill>
              </a:defRPr>
            </a:pPr>
            <a:r>
              <a:t>European Commission  //  Your Europe Portal  //  Q1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